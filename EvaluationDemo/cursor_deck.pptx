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7204e62d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d7204e62d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7204e62d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457200"/>
            <a:ext cx="36576" cy="422910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~/code-club  ·  04.17.2026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146304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Cursor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26060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An evaluation of the AI-native development environment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685800" y="338328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685800" y="356616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presenter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DEDE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DEDED"/>
                </a:solidFill>
                <a:latin typeface="Consolas"/>
                <a:ea typeface="Consolas"/>
                <a:cs typeface="Consolas"/>
                <a:sym typeface="Consolas"/>
              </a:rPr>
              <a:t>Raghuram Selvaraj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9A9A9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raghuselva99@gmail.com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852160" y="3520440"/>
            <a:ext cx="2834640" cy="105156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989320" y="361188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$ cursor --version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&gt; agent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&gt; ctx loaded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CODE CLUB  ·  CURSOR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680955" y="489204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01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01  ·  UX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An AI-native fork of VS Code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1463050"/>
            <a:ext cx="3840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Cursor is built on top of VS Code, layering AI capabilities directly into the editor rather than keeping them in a sidebar. The result is three interaction modes that share the same editor surface.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3566167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MAX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Extends context window for large-codebase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63440" y="1463050"/>
            <a:ext cx="4023300" cy="9600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627642"/>
            <a:ext cx="347472" cy="3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5349240" y="1591066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Tab completion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349240" y="190196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Inline autocomplete as you type. Unlimited on paid plans.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63440" y="2560328"/>
            <a:ext cx="4023300" cy="9600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724920"/>
            <a:ext cx="347472" cy="3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5349240" y="2688344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Chat /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349240" y="2999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Multi-file edits, command execution, autonomous iteration.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3657607"/>
            <a:ext cx="4023300" cy="9600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3822198"/>
            <a:ext cx="347472" cy="3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5349240" y="3785622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Plan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49240" y="409651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Asks clarifying questions, then drafts a structured plan before writing code.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UX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680905" y="489204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02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457200" y="32004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00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  ·  UX OVERVIEW </a:t>
            </a:r>
            <a:r>
              <a:rPr lang="en-US" sz="1000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(contd.)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489204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UX OVERVIEW 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(contd.)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7680905" y="489204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5" title="Screenshot 2026-04-17 at 4.03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25" y="728340"/>
            <a:ext cx="7750139" cy="401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02  · 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in the toolbox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1417325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678426" y="1645924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67" y="1728220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678426" y="2221995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Tab completion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78426" y="2514602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Inline autocomplete, unlimited on paid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244645" y="1417325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465871" y="1645924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5512" y="1728220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3465871" y="2221995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Agent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465871" y="2514602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Multi-file edits, runs commands, iterates autonomously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032090" y="1417325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253316" y="1645924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2957" y="1728220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253316" y="2221995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Plan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253316" y="2514602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Clarifies requirements, drafts structured plan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3154680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78426" y="3383279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067" y="3465575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678426" y="3959349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Debug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78426" y="4251957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Generates hypotheses, adds logs, narrows 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44645" y="3154680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465871" y="3383279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45512" y="3465575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3465871" y="3959349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MCP servers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465871" y="4251957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Connect DBs, APIs, docs to the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032090" y="3154680"/>
            <a:ext cx="2654700" cy="1600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253316" y="3383279"/>
            <a:ext cx="486600" cy="50280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2957" y="3465575"/>
            <a:ext cx="327414" cy="33832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6253316" y="3959349"/>
            <a:ext cx="2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Cloud agents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53316" y="4251957"/>
            <a:ext cx="2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Run long tasks in the 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680955" y="4892015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03  ·  PROMPT SPECIFICITY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More detail → better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1417325"/>
            <a:ext cx="2654700" cy="2926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51880" y="1618492"/>
            <a:ext cx="23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VAGUE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51880" y="1874522"/>
            <a:ext cx="23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HTML + JS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651880" y="2514599"/>
            <a:ext cx="2265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651880" y="2651758"/>
            <a:ext cx="2300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Single-file output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No API layer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No 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Misses </a:t>
            </a:r>
            <a:r>
              <a:rPr lang="en-US" sz="115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Functional and Non-functional requirements</a:t>
            </a: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 by default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44670" y="1417325"/>
            <a:ext cx="2654700" cy="2926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439351" y="1618492"/>
            <a:ext cx="23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FUNC REQS ENUMERATED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39351" y="1874522"/>
            <a:ext cx="23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Flask + HTML + SQLite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3439351" y="2514599"/>
            <a:ext cx="2265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3439351" y="2651758"/>
            <a:ext cx="2300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API layer generated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Hits functional reqs</a:t>
            </a:r>
            <a:endParaRPr b="0" i="0" sz="1150" u="none" cap="none" strike="noStrike">
              <a:solidFill>
                <a:srgbClr val="9A9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lang="en-US" sz="115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Opts for simplicity</a:t>
            </a:r>
            <a:endParaRPr sz="1150">
              <a:solidFill>
                <a:srgbClr val="9A9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Odd UX decisions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Reuploads on each query</a:t>
            </a:r>
            <a:endParaRPr sz="1150">
              <a:solidFill>
                <a:srgbClr val="9A9A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032140" y="1417325"/>
            <a:ext cx="2654700" cy="29262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226821" y="1618492"/>
            <a:ext cx="23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PLAN MODE + </a:t>
            </a:r>
            <a:r>
              <a:rPr lang="en-US" sz="900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FUNC REQS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226821" y="1874522"/>
            <a:ext cx="230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FastAPI + React + Postgres + Docker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7"/>
          <p:cNvCxnSpPr/>
          <p:nvPr/>
        </p:nvCxnSpPr>
        <p:spPr>
          <a:xfrm>
            <a:off x="6226821" y="2514599"/>
            <a:ext cx="2265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7"/>
          <p:cNvSpPr/>
          <p:nvPr/>
        </p:nvSpPr>
        <p:spPr>
          <a:xfrm>
            <a:off x="6226821" y="2651758"/>
            <a:ext cx="2300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Clarifies stack &amp; DB choice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Generates Alembic migrations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Full Docker compose stack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Swagger UI auto-generated</a:t>
            </a:r>
            <a:endParaRPr sz="1150">
              <a:solidFill>
                <a:srgbClr val="9A9A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4434838"/>
            <a:ext cx="8229600" cy="457200"/>
          </a:xfrm>
          <a:prstGeom prst="rect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34182" y="4462260"/>
            <a:ext cx="7787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TAKEAWAY  </a:t>
            </a:r>
            <a:r>
              <a:rPr b="0" i="0" lang="en-US" sz="1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Plan Mode's clarifying questions enforce granularity without requiring upfront expertise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4892025"/>
            <a:ext cx="442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NFR1 · NFR2 · NFR4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713597" y="4892025"/>
            <a:ext cx="97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04  ·  CONTAINERIZATION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Docker-ready in one follow-up 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1417320"/>
            <a:ext cx="3931920" cy="7772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36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1097280" y="15270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 Dockerfile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97280" y="181051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Python base + Uvicorn entrypoint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2286000"/>
            <a:ext cx="3931920" cy="7772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505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1097280" y="239572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 Dockerfile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97280" y="26791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Node build stage + static serve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3154680"/>
            <a:ext cx="3931920" cy="77724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3741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1097280" y="326440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docker-compose.yml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097280" y="35478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frontend · backend · db (Postgres)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0" y="1417325"/>
            <a:ext cx="4114800" cy="25146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754880" y="15544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DEBUG MODE · REAL BUG CAUGHT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54880" y="1828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"Load failed" on upload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754880" y="2240280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Generated 5 hypotheses, added runtime logs, asked for repro.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DEDE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Root cause: BACKEND_CORS_ORIGINS parsed as JSON by Pydantic Settings, backend crashed on startup.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6EFA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→ Fixed in 1 prompt.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40080" y="41330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CLOUD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DEDED"/>
                </a:solidFill>
                <a:latin typeface="Consolas"/>
                <a:ea typeface="Consolas"/>
                <a:cs typeface="Consolas"/>
                <a:sym typeface="Consolas"/>
              </a:rPr>
              <a:t>push images</a:t>
            </a:r>
            <a:r>
              <a:rPr b="0" i="0" lang="en-US" sz="12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1" i="0" lang="en-US" sz="1200" u="none" cap="none" strike="noStrike">
                <a:solidFill>
                  <a:srgbClr val="EDEDED"/>
                </a:solidFill>
                <a:latin typeface="Consolas"/>
                <a:ea typeface="Consolas"/>
                <a:cs typeface="Consolas"/>
                <a:sym typeface="Consolas"/>
              </a:rPr>
              <a:t>managed Postgres</a:t>
            </a:r>
            <a:r>
              <a:rPr b="0" i="0" lang="en-US" sz="12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1" i="0" lang="en-US" sz="1200" u="none" cap="none" strike="noStrike">
                <a:solidFill>
                  <a:srgbClr val="EDEDED"/>
                </a:solidFill>
                <a:latin typeface="Consolas"/>
                <a:ea typeface="Consolas"/>
                <a:cs typeface="Consolas"/>
                <a:sym typeface="Consolas"/>
              </a:rPr>
              <a:t>container runtime</a:t>
            </a:r>
            <a:r>
              <a:rPr b="0" i="0" lang="en-US" sz="12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1" i="0" lang="en-US" sz="1200" u="none" cap="none" strike="noStrike">
                <a:solidFill>
                  <a:srgbClr val="EDEDED"/>
                </a:solidFill>
                <a:latin typeface="Consolas"/>
                <a:ea typeface="Consolas"/>
                <a:cs typeface="Consolas"/>
                <a:sym typeface="Consolas"/>
              </a:rPr>
              <a:t>env vars &amp; smoke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NFR3  ·  DEPLOYABILITY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680955" y="4892015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05  ·  STACK CHOICES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What Plan Mode picked, and why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85800" y="1618488"/>
            <a:ext cx="548640" cy="54864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1417320" y="156362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NFR5 · REST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417320" y="176479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FastAPI + SQLAlchemy + Alembic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417320" y="20756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Auto-generated Swagger UI · schemas &amp; models separated · 4 endpoints including /health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85800" y="2715768"/>
            <a:ext cx="548640" cy="54864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8072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1417320" y="266090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NFR6 ·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417320" y="286207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React + Vite (</a:t>
            </a:r>
            <a:r>
              <a:rPr b="1" lang="en-US" sz="1600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JS</a:t>
            </a:r>
            <a:r>
              <a:rPr b="1" i="0" lang="en-US" sz="16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417320" y="31729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No Tailwind unless requested · no UI unit tests by default · Vite dev server for local </a:t>
            </a:r>
            <a:r>
              <a:rPr lang="en-US" sz="1150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· Opted for JS instead of 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85800" y="3813048"/>
            <a:ext cx="548640" cy="548640"/>
          </a:xfrm>
          <a:prstGeom prst="ellipse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9044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1417320" y="375818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NFR7 ·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417320" y="39593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PostgreSQL (recommended over MySQL)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417320" y="42702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JSONB for word_frequency · Alembic migrations applied on startup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Picks sensible defaults when asked to recommend · follows instructions cleanly when </a:t>
            </a:r>
            <a:r>
              <a:rPr i="1"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user specified custom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NFR5 · NFR6 · NFR7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680905" y="487374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06  ·  AUTO vs PREMIUM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Two routing modes, same UI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57200" y="1325880"/>
            <a:ext cx="4023360" cy="288036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85800" y="152704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AUTO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85800" y="19202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685800" y="219456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/>
          <p:nvPr/>
        </p:nvSpPr>
        <p:spPr>
          <a:xfrm>
            <a:off x="731520" y="2331720"/>
            <a:ext cx="3566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Routes to cost-efficient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6EFAC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Unlimited · no credit draw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~$0.25/$1.25/$6.00 per M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Best for routine edits,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63440" y="1325880"/>
            <a:ext cx="4023360" cy="288036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892040" y="152704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PREMIUM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892040" y="19202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4892040" y="219456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4937760" y="2331720"/>
            <a:ext cx="35661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Routes to a frontier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CD34D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Draws from $20 credit pool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API rates, no Cursor markup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Best for complex refactors,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94360" y="4370832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MAX MODE  </a:t>
            </a:r>
            <a:r>
              <a:rPr b="0" i="0" lang="en-US" sz="11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stacks on top — extends context window at additional cost.  </a:t>
            </a:r>
            <a:r>
              <a:rPr b="0" i="1" lang="en-US" sz="11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Auto for flow, Premium when model choice matters.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NFR9  ·  MODEL ROUTING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680955" y="4892015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07  · 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57200" y="566925"/>
            <a:ext cx="809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Code Club actually pays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1417318"/>
            <a:ext cx="1574100" cy="201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92111" y="1645918"/>
            <a:ext cx="130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Hobby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92111" y="2011678"/>
            <a:ext cx="1304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Free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1"/>
          <p:cNvCxnSpPr/>
          <p:nvPr/>
        </p:nvCxnSpPr>
        <p:spPr>
          <a:xfrm>
            <a:off x="592111" y="2651758"/>
            <a:ext cx="13041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1"/>
          <p:cNvSpPr/>
          <p:nvPr/>
        </p:nvSpPr>
        <p:spPr>
          <a:xfrm>
            <a:off x="592111" y="2743199"/>
            <a:ext cx="130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Limited completions + agent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121108" y="1417318"/>
            <a:ext cx="1574100" cy="2011800"/>
          </a:xfrm>
          <a:prstGeom prst="rect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2121108" y="1417318"/>
            <a:ext cx="1574100" cy="5490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2256020" y="1645918"/>
            <a:ext cx="130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4B5FD"/>
                </a:solidFill>
                <a:latin typeface="Consolas"/>
                <a:ea typeface="Consolas"/>
                <a:cs typeface="Consolas"/>
                <a:sym typeface="Consolas"/>
              </a:rPr>
              <a:t>Pro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256020" y="2011678"/>
            <a:ext cx="1304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$20 /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1"/>
          <p:cNvCxnSpPr/>
          <p:nvPr/>
        </p:nvCxnSpPr>
        <p:spPr>
          <a:xfrm>
            <a:off x="2256020" y="2651758"/>
            <a:ext cx="13041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1"/>
          <p:cNvSpPr/>
          <p:nvPr/>
        </p:nvSpPr>
        <p:spPr>
          <a:xfrm>
            <a:off x="2256020" y="2743199"/>
            <a:ext cx="130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Unlimited Tab &amp; Auto · $20 frontier model API credits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785016" y="1417318"/>
            <a:ext cx="1574100" cy="201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3919928" y="1645918"/>
            <a:ext cx="130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Pro+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919928" y="2011678"/>
            <a:ext cx="1304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$60 /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1"/>
          <p:cNvCxnSpPr/>
          <p:nvPr/>
        </p:nvCxnSpPr>
        <p:spPr>
          <a:xfrm>
            <a:off x="3919928" y="2651758"/>
            <a:ext cx="13041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1"/>
          <p:cNvSpPr/>
          <p:nvPr/>
        </p:nvSpPr>
        <p:spPr>
          <a:xfrm>
            <a:off x="3919928" y="2743199"/>
            <a:ext cx="130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3× credits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48925" y="1417318"/>
            <a:ext cx="1574100" cy="201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583836" y="1645918"/>
            <a:ext cx="130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Ultra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583836" y="2011678"/>
            <a:ext cx="1304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$200 /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1"/>
          <p:cNvCxnSpPr/>
          <p:nvPr/>
        </p:nvCxnSpPr>
        <p:spPr>
          <a:xfrm>
            <a:off x="5583836" y="2651758"/>
            <a:ext cx="13041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5583836" y="2743199"/>
            <a:ext cx="130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20× credits · priority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112833" y="1417318"/>
            <a:ext cx="1574100" cy="201180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247744" y="1645918"/>
            <a:ext cx="130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247744" y="2011678"/>
            <a:ext cx="1304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$40 / user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7247744" y="2651758"/>
            <a:ext cx="13041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1"/>
          <p:cNvSpPr/>
          <p:nvPr/>
        </p:nvSpPr>
        <p:spPr>
          <a:xfrm>
            <a:off x="7247744" y="2743199"/>
            <a:ext cx="130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SSO · admin · billing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57200" y="3657599"/>
            <a:ext cx="8229600" cy="1143000"/>
          </a:xfrm>
          <a:prstGeom prst="rect">
            <a:avLst/>
          </a:prstGeom>
          <a:solidFill>
            <a:srgbClr val="1C1C1C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57200" y="3657599"/>
            <a:ext cx="45000" cy="1143000"/>
          </a:xfrm>
          <a:prstGeom prst="rect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052" y="3840479"/>
            <a:ext cx="40473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1221698" y="3794759"/>
            <a:ext cx="719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RECOMMENDATION FOR CODE CLUB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221698" y="4023359"/>
            <a:ext cx="719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DEDED"/>
                </a:solidFill>
                <a:latin typeface="Trebuchet MS"/>
                <a:ea typeface="Trebuchet MS"/>
                <a:cs typeface="Trebuchet MS"/>
                <a:sym typeface="Trebuchet MS"/>
              </a:rPr>
              <a:t>Pro tier is likely sufficient — Auto mode handles most tasks without touching the credit pool.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221698" y="4370832"/>
            <a:ext cx="7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$16/mo </a:t>
            </a:r>
            <a:r>
              <a:rPr b="0" i="0" lang="en-US" sz="12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with annual billing  ·  </a:t>
            </a:r>
            <a:r>
              <a:rPr b="1" i="0" lang="en-US" sz="1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Free for 1 year </a:t>
            </a:r>
            <a:r>
              <a:rPr b="0" i="0" lang="en-US" sz="12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with verified student (.edu)  ·  </a:t>
            </a:r>
            <a:r>
              <a:rPr b="1" i="0" lang="en-US" sz="1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Overages </a:t>
            </a:r>
            <a:r>
              <a:rPr b="0" i="0" lang="en-US" sz="12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billed at API rates (no markup)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NFR8  · 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681030" y="4891965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900" u="none" cap="none" strike="noStrike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 / 0</a:t>
            </a:r>
            <a:r>
              <a:rPr lang="en-US" sz="900">
                <a:solidFill>
                  <a:srgbClr val="6B6B6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